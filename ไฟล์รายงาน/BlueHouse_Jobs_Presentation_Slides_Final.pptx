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--- ENGLISH SPEECH SCRIPT ---</a:t>
            </a:r>
          </a:p>
          <a:p>
            <a:r>
              <a:t>Good morning/afternoon, respected committee members and audience. Welcome to our presentation.</a:t>
            </a:r>
          </a:p>
          <a:p/>
          <a:p>
            <a:r>
              <a:t>Today, we are excited to introduce our project called 'BlueHouse Jobs'—a Smart Job Matching Platform designed specifically for fresh graduates and employers.</a:t>
            </a:r>
          </a:p>
          <a:p/>
          <a:p>
            <a:r>
              <a:t>--- THAI TRANSLATION &amp; VOCAL TIPS ---</a:t>
            </a:r>
          </a:p>
          <a:p>
            <a:r>
              <a:t>คำแปล: สวัสดีครับ/ค่ะ ท่านกรรมการและผู้ฟังทุกท่าน ขอต้อนรับสู่การนำเสนอโครงงาน วันนี้พวกเรามีความยินดีอย่างยิ่งที่จะมานำเสนอโครงการ 'BlueHouse Jobs' แพลตฟอร์มคัดกรองจัดหางานอัจฉริยะสำหรับนักศึกษาจบใหม่และองค์กรนายจ้าง</a:t>
            </a:r>
          </a:p>
          <a:p>
            <a:r>
              <a:t>เทคนิค: พูดด้วยน้ำเสียงแจ่มใส มั่นใจ สบตากรรมการ และเน้นเสียงคำว่า 'BlueHouse Jobs' และ 'Smart Job Matching Platform'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--- ENGLISH SPEECH SCRIPT ---</a:t>
            </a:r>
          </a:p>
          <a:p>
            <a:r>
              <a:t>Let us start with Section 1: The background and origin of our project.</a:t>
            </a:r>
          </a:p>
          <a:p/>
          <a:p>
            <a:r>
              <a:t>In today's digital era, finding a job is a critical milestone for fresh graduates. However, many job seekers face two major problems: first, traditional platforms have cluttered, complicated interfaces; and second, there is a mismatch between students' actual skills and employer requirements.</a:t>
            </a:r>
          </a:p>
          <a:p/>
          <a:p>
            <a:r>
              <a:t>To solve these challenges, we developed BlueHouse Jobs as a centralized, intuitive web platform that connects job seekers, employers, and administrators seamlessly.</a:t>
            </a:r>
          </a:p>
          <a:p/>
          <a:p>
            <a:r>
              <a:t>--- THAI TRANSLATION &amp; VOCAL TIPS ---</a:t>
            </a:r>
          </a:p>
          <a:p>
            <a:r>
              <a:t>คำแปล: ขอเริ่มต้นที่ข้อ 1 ที่มาและความสำคัญของโครงการ ในยุคดิจิทัล การหางานเป็นก้าวสำคัญของนักศึกษาจบใหม่ แต่หลายคนเจอปัญหาใหญ่ 2 ข้อ คือ เว็บเดิมๆ ใช้งานยากซับซ้อน และทักษะของผู้สมัครไม่ตรงกับที่นายจ้างต้องการ เราจึงพัฒนา BlueHouse Jobs ขึ้นมาเพื่อเป็นศูนย์กลางที่ใช้งานง่ายและเชื่อมโยงทุกคนเข้าด้วยกัน</a:t>
            </a:r>
          </a:p>
          <a:p>
            <a:r>
              <a:t>เทคนิค: เน้นเสียงหนักแน่นตรงคำว่า 'two major problems', 'cluttered interfaces', และ 'mismatch' เพื่อชี้ให้เห็นปัญหาที่ระบบเราเข้ามาแก้ไข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--- ENGLISH SPEECH SCRIPT ---</a:t>
            </a:r>
          </a:p>
          <a:p>
            <a:r>
              <a:t>Based on these problems, our project has four primary objectives:</a:t>
            </a:r>
          </a:p>
          <a:p/>
          <a:p>
            <a:r>
              <a:t>1. First, to create a modern, responsive web application accessible from any device.</a:t>
            </a:r>
          </a:p>
          <a:p>
            <a:r>
              <a:t>2. Second, to help fresh graduates easily search for jobs based on location, salary, and categories, and submit applications effortlessly.</a:t>
            </a:r>
          </a:p>
          <a:p>
            <a:r>
              <a:t>3. Third, to enable employers to post job vacancies, manage listings, and review applicants systematically.</a:t>
            </a:r>
          </a:p>
          <a:p>
            <a:r>
              <a:t>4. And fourth, to provide an efficient Admin Moderation System to ensure platform safety and content quality.</a:t>
            </a:r>
          </a:p>
          <a:p/>
          <a:p>
            <a:r>
              <a:t>--- THAI TRANSLATION &amp; VOCAL TIPS ---</a:t>
            </a:r>
          </a:p>
          <a:p>
            <a:r>
              <a:t>คำแปล: จากปัญหาข้างต้น โครงการเรามีวัตถุประสงค์หลัก 4 ข้อ ได้แก่: 1) สร้างเว็บแอปพลิเคชันที่ทันสมัยรองรับทุกอุปกรณ์ 2) ช่วยให้นักศึกษาค้นหางานตามเงื่อนไขและยื่นใบสมัครได้สะดวก 3) ช่วยให้นายจ้างลงประกาศและคัดเลือกผู้สมัครได้อย่างเป็นระบบ 4) ให้บริการระบบผู้ดูแลระบบ (Admin) เพื่อกำกับดูแลความปลอดภัยของแพลตฟอร์ม</a:t>
            </a:r>
          </a:p>
          <a:p>
            <a:r>
              <a:t>เทคนิค: ใช้นิ้วมือช่วยนับตามลำดับ 1, 2, 3, 4 ช่วยให้ฟังง่ายและกรรมการติดตามเนื้อหาได้ทัน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--- ENGLISH SPEECH SCRIPT ---</a:t>
            </a:r>
          </a:p>
          <a:p>
            <a:r>
              <a:t>Moving on to Section 2: Technologies and tools used in development.</a:t>
            </a:r>
          </a:p>
          <a:p/>
          <a:p>
            <a:r>
              <a:t>BlueHouse Jobs is built using a modern Full-Stack Web Development architecture:</a:t>
            </a:r>
          </a:p>
          <a:p/>
          <a:p>
            <a:r>
              <a:t>- On the Frontend, we use React.js powered by Vite as a Single Page Application, providing lightning-fast rendering and smooth dynamic navigation without page reloads.</a:t>
            </a:r>
          </a:p>
          <a:p>
            <a:r>
              <a:t>- For Styling, we implemented a custom Vanilla CSS3 design system with dynamic gradients, combined with Lucide-React icons for a clean, modern user experience.</a:t>
            </a:r>
          </a:p>
          <a:p>
            <a:r>
              <a:t>- On the Backend, we built a Node.js and Express.js RESTful API to handle business logic, role-based access control, and server authentication.</a:t>
            </a:r>
          </a:p>
          <a:p/>
          <a:p>
            <a:r>
              <a:t>--- THAI TRANSLATION &amp; VOCAL TIPS ---</a:t>
            </a:r>
          </a:p>
          <a:p>
            <a:r>
              <a:t>คำแปล: มาต่อกันที่ข้อ 2 เทคโนโลยีและเครื่องมือที่ใช้พัฒนา ระบบเราพัฒนาด้วยสถาปัตยกรรม Full-Stack Web: ฝั่ง Frontend ใช้ React.js ร่วมกับ Vite ให้ความเร็วสูง โหลดหน้าเว็บแบบ SPA ไม่ต้องรีเฟรช / ส่วนดีไซน์ใช้ Vanilla CSS3 แบบ Custom พร้อมไอคอน Lucide-React / ฝั่ง Backend ใช้ Node.js และ Express.js ทำหน้าที่เป็น RESTful API จัดการสิทธิ์และตรรกะการทำงาน</a:t>
            </a:r>
          </a:p>
          <a:p>
            <a:r>
              <a:t>เทคนิค: ออกเสียงคำศัพท์เทคนิคให้ชัดเจน: React.js (รีแอค-เจเอส), Vite (วีท), Single Page Application (ซิงเกิล-เพจ-แอปพลิเคชัน), RESTful API (เรสต์ฟูล-เอพีไอ)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--- ENGLISH SPEECH SCRIPT ---</a:t>
            </a:r>
          </a:p>
          <a:p>
            <a:r>
              <a:t>For data management and intelligent features:</a:t>
            </a:r>
          </a:p>
          <a:p/>
          <a:p>
            <a:r>
              <a:t>- We use SQLite3 as our universal relational database to safely store user profiles, job posts, applications, and chat messages.</a:t>
            </a:r>
          </a:p>
          <a:p>
            <a:r>
              <a:t>- Furthermore, we developed a Dynamic AI Matching Engine that calculates a personalized Match Rate percentage based on applicant majors and specialized skills.</a:t>
            </a:r>
          </a:p>
          <a:p>
            <a:r>
              <a:t>- We also integrated the Google Gemini AI API to provide real-time, in-depth Thai language candidate analysis.</a:t>
            </a:r>
          </a:p>
          <a:p>
            <a:r>
              <a:t>- Finally, Git and GitHub Cloud were used for version control and source code collaboration.</a:t>
            </a:r>
          </a:p>
          <a:p/>
          <a:p>
            <a:r>
              <a:t>--- THAI TRANSLATION &amp; VOCAL TIPS ---</a:t>
            </a:r>
          </a:p>
          <a:p>
            <a:r>
              <a:t>คำแปล: ในส่วนการจัดการข้อมูลและฟีเจอร์อัจฉริยะ: เราใช้ SQLite3 เป็นฐานข้อมูลจัดเก็บข้อมูลผู้ใช้ โพสต์งาน ใบสมัคร และแชท / นอกจากนี้ เราได้พัฒนาระบบ AI Matching คำนวณเปอร์เซ็นต์ Match Rate % ตามสาขาวิชาและทักษะจริง / พร้อมเชื่อมต่อ Google Gemini AI API เพื่อวิเคราะห์ผู้สมัครเป็นภาษาไทยแบบเรียลไทม์ / และใช้ Git/GitHub ควบคุมเวอร์ชันซอร์สโค้ด</a:t>
            </a:r>
          </a:p>
          <a:p>
            <a:r>
              <a:t>เทคนิค: เน้นฟีเจอร์ไฮไลท์ตรง 'Dynamic AI Matching Engine' และ 'Google Gemini AI API' เพราะเป็นจุดเด่นสำคัญของงานเรา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--- ENGLISH SPEECH SCRIPT ---</a:t>
            </a:r>
          </a:p>
          <a:p>
            <a:r>
              <a:t>In summary, BlueHouse Jobs effectively addresses the gap between fresh graduates and employers through a modern, secure, and AI-powered platform.</a:t>
            </a:r>
          </a:p>
          <a:p/>
          <a:p>
            <a:r>
              <a:t>That concludes our presentation for today. Thank you very much for your time and attention, and we are now ready for your questions.</a:t>
            </a:r>
          </a:p>
          <a:p/>
          <a:p>
            <a:r>
              <a:t>--- THAI TRANSLATION &amp; VOCAL TIPS ---</a:t>
            </a:r>
          </a:p>
          <a:p>
            <a:r>
              <a:t>คำแปล: โดยสรุปแล้ว BlueHouse Jobs ตอบโจทย์การเชื่อมโยงนักศึกษาจบใหม่กับนายจ้างด้วยแพลตฟอร์มที่ทันสมัย ปลอดภัย และมีระบบ AI ช่วยแมตช์งาน พวกเราขอจบการนำเสนอเพียงเท่านี้ ขอบคุณครับ/ค่ะ สำหรับการรับฟัง และพร้อมรับคำถามจากคณะกรรมการครับ/ค่ะ</a:t>
            </a:r>
          </a:p>
          <a:p>
            <a:r>
              <a:t>เทคนิค: กล่าวโค้งขอบคุณอย่างสุภาพและสบตากรรมการ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92270" y="1051560"/>
            <a:ext cx="420624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ACADEMIC PROJECT DEFENSE • SECTIONS 1 &amp;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200" b="1">
                <a:solidFill>
                  <a:srgbClr val="0284C7"/>
                </a:solidFill>
                <a:latin typeface="Arial"/>
              </a:defRPr>
            </a:pPr>
            <a:r>
              <a:t>BLUEHOUSE JOBS</a:t>
            </a:r>
          </a:p>
          <a:p>
            <a:pPr algn="ctr">
              <a:spcAft>
                <a:spcPts val="20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Smart Job Matching Platform for Fresh Graduates &amp; Employers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📘 Scope: Project Origin, Core Objectives &amp; Full-Stack Web Architecture</a:t>
            </a:r>
          </a:p>
          <a:p>
            <a:pPr algn="ctr">
              <a:defRPr sz="1600" b="1">
                <a:solidFill>
                  <a:srgbClr val="0D9488"/>
                </a:solidFill>
                <a:latin typeface="Arial"/>
              </a:defRPr>
            </a:pPr>
            <a:r>
              <a:t>Course: Digital Technology Project v2.5   |   Developer Team: BlueHouse Jobs   |   Repo: Dpopeyes/job-matching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228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BLUEHOUSE JOBS  |  SLIDE 02 OF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32004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SECTION 1: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Project Origin &amp; Problem Statement</a:t>
            </a:r>
          </a:p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t>Key challenges in modern graduate recruitment and our software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874519"/>
            <a:ext cx="3291840" cy="34747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❌ PROBLEM STATEMENT (ปัญหาที่พบ)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Cluttered &amp; Complex UI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 Traditional job sites feature overcrowded, difficult layouts that confuse fresh graduates.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Severe Skill Mismatch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 Lack of intelligent screening causes gap between student skills &amp; employer needs.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Slow Recruitment Flow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 Complicated application flows delay HR feedback &amp; candidate selection.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1874519"/>
            <a:ext cx="347472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✅ BLUEHOUSE JOBS SOLUTION (วิธีแก้)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✔ Modern &amp; Clean Interface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 Designed with card layout, dynamic search filtering, and mobile responsiveness.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✔ Dynamic AI Match Rate %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 Automated AI matching engine evaluating candidate skill compatibility (15%-100%).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✔ Integrated 3-Role System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 Unified platform empowering Job Seekers, Employers, and Admin Moderation.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228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BLUEHOUSE JOBS  |  SLIDE 03 OF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32004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SECTION 1.1: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Primary Project Objectives Matrix</a:t>
            </a:r>
          </a:p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t>Four core goals driving the design and architecture of BlueHouse Jobs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563EB"/>
                </a:solidFill>
                <a:latin typeface="Arial"/>
              </a:defRPr>
            </a:pPr>
            <a:r>
              <a:t>🎯 Goal 1: Modern Responsive Web App</a:t>
            </a:r>
          </a:p>
          <a:p>
            <a:pPr>
              <a:defRPr sz="1600">
                <a:solidFill>
                  <a:srgbClr val="1E293B"/>
                </a:solidFill>
                <a:latin typeface="Arial"/>
              </a:defRPr>
            </a:pPr>
            <a:r>
              <a:t>Develop an intuitive Single Page Application accessible seamlessly from desktop computers, tablets, and smartphones.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4663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563EB"/>
                </a:solidFill>
                <a:latin typeface="Arial"/>
              </a:defRPr>
            </a:pPr>
            <a:r>
              <a:t>🎓 Goal 2: Job Seeker Search &amp; Apply</a:t>
            </a:r>
          </a:p>
          <a:p>
            <a:pPr>
              <a:defRPr sz="1600">
                <a:solidFill>
                  <a:srgbClr val="1E293B"/>
                </a:solidFill>
                <a:latin typeface="Arial"/>
              </a:defRPr>
            </a:pPr>
            <a:r>
              <a:t>Help fresh graduates filter jobs by location, salary, &amp; category, while viewing dynamic skill match rates.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663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563EB"/>
                </a:solidFill>
                <a:latin typeface="Arial"/>
              </a:defRPr>
            </a:pPr>
            <a:r>
              <a:t>🏢 Goal 3: Systematic Employer Tools</a:t>
            </a:r>
          </a:p>
          <a:p>
            <a:pPr>
              <a:defRPr sz="1600">
                <a:solidFill>
                  <a:srgbClr val="1E293B"/>
                </a:solidFill>
                <a:latin typeface="Arial"/>
              </a:defRPr>
            </a:pPr>
            <a:r>
              <a:t>Empower employers to post job vacancies, manage listings, and review candidate applications systematically.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1148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297680"/>
            <a:ext cx="4663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563EB"/>
                </a:solidFill>
                <a:latin typeface="Arial"/>
              </a:defRPr>
            </a:pPr>
            <a:r>
              <a:t>🛡️ Goal 4: Secure Admin Moderation</a:t>
            </a:r>
          </a:p>
          <a:p>
            <a:pPr>
              <a:defRPr sz="1600">
                <a:solidFill>
                  <a:srgbClr val="1E293B"/>
                </a:solidFill>
                <a:latin typeface="Arial"/>
              </a:defRPr>
            </a:pPr>
            <a:r>
              <a:t>Provide a dedicated Admin Moderation System to verify users, monitor job posts, and ensure 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228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BLUEHOUSE JOBS  |  SLIDE 04 OF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32004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SECTION 2: TECHNOLOGIES &amp;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Full-Stack Development Architecture</a:t>
            </a:r>
          </a:p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t>Industry-standard technology stack chosen for high performance &amp;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9260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FRONTEND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⚡ React.js (Vite Core)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Single Page Application (SPA) architecture for ultra-fast rendering without page reloads.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🎨 Custom Vanilla CSS3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Modern glassmorphic card design system, dynamic gradients &amp; clean typography.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✨ Lucide-React Icons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Vector iconography providing clear visual cues for user interactions.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1828800"/>
            <a:ext cx="292608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BACKEND WEB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🚀 Node.js + Express.js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High-performance asynchronous JavaScript runtime serving RESTful API routes.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🔒 Role-Based Security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RBAC middleware enforcing strict permissions for User, Employer &amp; Admin.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🌐 Modular REST Routes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Structured API endpoints for Jobs, Applications, Users &amp; Chat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1828800"/>
            <a:ext cx="2926080" cy="34747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DATABASE &amp; DEVOPS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3317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💾 Universal SQLite3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Relational database storing Users, Jobs, Applications &amp; Chat logs safely.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☁️ Git &amp; GitHub Cloud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Version control &amp; repository collaboration at Dpopeyes/job-matching.</a:t>
            </a:r>
          </a:p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▪ 📦 Production Ready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t>  Vite build pipeline &amp; Node server configuration for production readiness.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228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Arial"/>
              </a:defRPr>
            </a:pPr>
            <a:r>
              <a:t>BLUEHOUSE JOBS  |  SLIDE 05 OF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32004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SECTION 2: AI &amp; DATABASE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Intelligent AI Matching &amp; Database Engine</a:t>
            </a:r>
          </a:p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t>Advanced candidate screening algorithm &amp; real-time Google Gemini AI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  <a:latin typeface="Arial"/>
              </a:defRPr>
            </a:pPr>
            <a:r>
              <a:t>🎯 AI Match Rate Formula (สูตรคำนวณอัตโนมัติ)</a:t>
            </a:r>
          </a:p>
          <a:p>
            <a:pPr>
              <a:spcAft>
                <a:spcPts val="6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Match Rate (%) = (Skill Score × 70%) + (Major Score × 30%)</a:t>
            </a:r>
          </a:p>
          <a:p>
            <a:pPr>
              <a:defRPr sz="1600">
                <a:solidFill>
                  <a:srgbClr val="1E293B"/>
                </a:solidFill>
                <a:latin typeface="Arial"/>
              </a:defRPr>
            </a:pPr>
            <a:r>
              <a:t>• Multi-Source Profile Extractor: Parses skills, project tags (#React, #JavaScript), &amp; bio text.</a:t>
            </a:r>
            <a:br/>
            <a:r>
              <a:t>• Taxonomy Distance Engine: Evaluates major compatibility (Tech ↔ Web Dev = 100%, Design = 50%, Unrelated = 0%).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🤖 Real-Time Google Gemini AI API</a:t>
            </a:r>
          </a:p>
          <a:p>
            <a:pPr>
              <a:defRPr sz="1600">
                <a:solidFill>
                  <a:srgbClr val="1E293B"/>
                </a:solidFill>
                <a:latin typeface="Arial"/>
              </a:defRPr>
            </a:pPr>
            <a:r>
              <a:t>Integrated Google Gemini API (gemini-3.6-flash) on Node.js backend to generate real-time Thai language candidate summaries for HR.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977639"/>
            <a:ext cx="51206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114800"/>
            <a:ext cx="4754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E3A8A"/>
                </a:solidFill>
                <a:latin typeface="Arial"/>
              </a:defRPr>
            </a:pPr>
            <a:r>
              <a:t>💾 Universal SQLite3 Relational DB</a:t>
            </a:r>
          </a:p>
          <a:p>
            <a:pPr>
              <a:defRPr sz="1600">
                <a:solidFill>
                  <a:srgbClr val="1E293B"/>
                </a:solidFill>
                <a:latin typeface="Arial"/>
              </a:defRPr>
            </a:pPr>
            <a:r>
              <a:t>Central database storing Users, Job Vacancies, Applications, Portfolios, &amp; Chat logs safely with zero mock data and instant real-time sync.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96313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3600" b="1">
                <a:solidFill>
                  <a:srgbClr val="0284C7"/>
                </a:solidFill>
                <a:latin typeface="Arial"/>
              </a:defRPr>
            </a:pPr>
            <a:r>
              <a:t>CONCLUSION &amp; CLOSING</a:t>
            </a:r>
          </a:p>
          <a:p>
            <a:pPr algn="ctr">
              <a:spcAft>
                <a:spcPts val="26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BlueHouse Jobs effectively bridges the gap between fresh graduates and employers through a modern, secure, and AI-powered platform.</a:t>
            </a:r>
          </a:p>
          <a:p>
            <a:pPr algn="ctr">
              <a:spcAft>
                <a:spcPts val="1600"/>
              </a:spcAft>
              <a:defRPr sz="2000" b="1">
                <a:solidFill>
                  <a:srgbClr val="0D9488"/>
                </a:solidFill>
                <a:latin typeface="Arial"/>
              </a:defRPr>
            </a:pPr>
            <a:r>
              <a:t>🎓 Thank You For Your Time &amp; Attention</a:t>
            </a:r>
          </a:p>
          <a:p>
            <a:pPr algn="ctr">
              <a:defRPr sz="1600" i="1">
                <a:solidFill>
                  <a:srgbClr val="94A3B8"/>
                </a:solidFill>
                <a:latin typeface="Arial"/>
              </a:defRPr>
            </a:pPr>
            <a:r>
              <a:t>That concludes our presentation for today. We are now ready for your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